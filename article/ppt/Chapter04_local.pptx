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70" r:id="rId3"/>
    <p:sldId id="258" r:id="rId5"/>
    <p:sldId id="260" r:id="rId6"/>
    <p:sldId id="266" r:id="rId7"/>
    <p:sldId id="267" r:id="rId8"/>
    <p:sldId id="268" r:id="rId9"/>
    <p:sldId id="263" r:id="rId10"/>
    <p:sldId id="272" r:id="rId11"/>
    <p:sldId id="257" r:id="rId12"/>
    <p:sldId id="273" r:id="rId13"/>
    <p:sldId id="274" r:id="rId14"/>
    <p:sldId id="275" r:id="rId15"/>
    <p:sldId id="271" r:id="rId16"/>
    <p:sldId id="282" r:id="rId17"/>
    <p:sldId id="276" r:id="rId18"/>
    <p:sldId id="277" r:id="rId19"/>
    <p:sldId id="278" r:id="rId20"/>
    <p:sldId id="283" r:id="rId21"/>
    <p:sldId id="279" r:id="rId22"/>
    <p:sldId id="280" r:id="rId23"/>
    <p:sldId id="281" r:id="rId24"/>
    <p:sldId id="284" r:id="rId28"/>
    <p:sldId id="285" r:id="rId29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8" userDrawn="1">
          <p15:clr>
            <a:srgbClr val="A4A3A4"/>
          </p15:clr>
        </p15:guide>
        <p15:guide id="2" pos="288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034B"/>
    <a:srgbClr val="2C1B3B"/>
    <a:srgbClr val="3C1F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18"/>
        <p:guide pos="288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ableStyles" Target="tableStyles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FIG:01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FIG:02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FIG:06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FIG:09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FIG:14:VECTOR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FIG:18:VECTOR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FIG:23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-7610475" y="-64135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8" name="矩形 7"/>
          <p:cNvSpPr/>
          <p:nvPr userDrawn="1"/>
        </p:nvSpPr>
        <p:spPr>
          <a:xfrm>
            <a:off x="-7610475" y="122301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9" name="矩形 8"/>
          <p:cNvSpPr/>
          <p:nvPr userDrawn="1"/>
        </p:nvSpPr>
        <p:spPr>
          <a:xfrm>
            <a:off x="15363825" y="-64135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10" name="矩形 9"/>
          <p:cNvSpPr/>
          <p:nvPr userDrawn="1"/>
        </p:nvSpPr>
        <p:spPr>
          <a:xfrm>
            <a:off x="15363825" y="122301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webp"/><Relationship Id="rId10" Type="http://schemas.openxmlformats.org/officeDocument/2006/relationships/image" Target="../media/image12.png"/><Relationship Id="rId11" Type="http://schemas.openxmlformats.org/officeDocument/2006/relationships/image" Target="../media/image13.png"/><Relationship Id="rId12" Type="http://schemas.openxmlformats.org/officeDocument/2006/relationships/image" Target="../media/image14.png"/><Relationship Id="rId13" Type="http://schemas.openxmlformats.org/officeDocument/2006/relationships/image" Target="../media/image15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image" Target="../media/image16.png"/><Relationship Id="rId3" Type="http://schemas.openxmlformats.org/officeDocument/2006/relationships/tags" Target="../tags/tag2.xml"/><Relationship Id="rId4" Type="http://schemas.openxmlformats.org/officeDocument/2006/relationships/image" Target="../media/image17.png"/><Relationship Id="rId5" Type="http://schemas.openxmlformats.org/officeDocument/2006/relationships/tags" Target="../tags/tag3.xml"/><Relationship Id="rId6" Type="http://schemas.openxmlformats.org/officeDocument/2006/relationships/tags" Target="../tags/tag4.xml"/><Relationship Id="rId7" Type="http://schemas.openxmlformats.org/officeDocument/2006/relationships/image" Target="../media/image18.png"/><Relationship Id="rId8" Type="http://schemas.openxmlformats.org/officeDocument/2006/relationships/tags" Target="../tags/tag5.xml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6" Type="http://schemas.openxmlformats.org/officeDocument/2006/relationships/image" Target="../media/image50.png"/><Relationship Id="rId7" Type="http://schemas.openxmlformats.org/officeDocument/2006/relationships/image" Target="../media/image51.png"/><Relationship Id="rId8" Type="http://schemas.openxmlformats.org/officeDocument/2006/relationships/image" Target="../media/image59.png"/><Relationship Id="rId9" Type="http://schemas.openxmlformats.org/officeDocument/2006/relationships/image" Target="../media/image6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image" Target="../media/image41.png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image" Target="../media/image42.png"/><Relationship Id="rId6" Type="http://schemas.openxmlformats.org/officeDocument/2006/relationships/tags" Target="../tags/tag9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Relationship Id="rId9" Type="http://schemas.openxmlformats.org/officeDocument/2006/relationships/image" Target="../media/image5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43.png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image" Target="../media/image61.png"/><Relationship Id="rId9" Type="http://schemas.openxmlformats.org/officeDocument/2006/relationships/image" Target="../media/image6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4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4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5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4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4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notesSlide" Target="../notesSlides/notesSlide22.xml"/><Relationship Id="rId5" Type="http://schemas.openxmlformats.org/officeDocument/2006/relationships/image" Target="../media/image63.png"/><Relationship Id="rId6" Type="http://schemas.openxmlformats.org/officeDocument/2006/relationships/image" Target="../media/image6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8.png"/><Relationship Id="rId3" Type="http://schemas.openxmlformats.org/officeDocument/2006/relationships/notesSlide" Target="../notesSlides/notesSlide23.xml"/><Relationship Id="rId4" Type="http://schemas.openxmlformats.org/officeDocument/2006/relationships/image" Target="../media/image6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图片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5641975"/>
            <a:ext cx="9144000" cy="4984750"/>
          </a:xfrm>
          <a:prstGeom prst="rect">
            <a:avLst/>
          </a:prstGeom>
        </p:spPr>
      </p:pic>
      <p:pic>
        <p:nvPicPr>
          <p:cNvPr id="3" name="图片 2" descr="Chapter04_local_01"/>
          <p:cNvPicPr>
            <a:picLocks noChangeAspect="1"/>
          </p:cNvPicPr>
          <p:nvPr/>
        </p:nvPicPr>
        <p:blipFill>
          <a:blip r:embed="rId2"/>
          <a:srcRect l="1806" r="3076"/>
          <a:stretch>
            <a:fillRect/>
          </a:stretch>
        </p:blipFill>
        <p:spPr>
          <a:xfrm>
            <a:off x="0" y="869315"/>
            <a:ext cx="9112250" cy="53625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3" name="组合 2"/>
          <p:cNvGrpSpPr/>
          <p:nvPr/>
        </p:nvGrpSpPr>
        <p:grpSpPr>
          <a:xfrm>
            <a:off x="90488" y="-5671502"/>
            <a:ext cx="8572500" cy="4863941"/>
            <a:chOff x="190" y="489"/>
            <a:chExt cx="18000" cy="10213"/>
          </a:xfrm>
        </p:grpSpPr>
        <p:pic>
          <p:nvPicPr>
            <p:cNvPr id="822" name="图片 821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9976" y="6684"/>
              <a:ext cx="7425" cy="3287"/>
            </a:xfrm>
            <a:prstGeom prst="rect">
              <a:avLst/>
            </a:prstGeom>
          </p:spPr>
        </p:pic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23" y="1589"/>
              <a:ext cx="4181" cy="2947"/>
            </a:xfrm>
            <a:prstGeom prst="rect">
              <a:avLst/>
            </a:prstGeom>
          </p:spPr>
        </p:pic>
        <p:sp>
          <p:nvSpPr>
            <p:cNvPr id="6" name="圆角矩形 5"/>
            <p:cNvSpPr/>
            <p:nvPr/>
          </p:nvSpPr>
          <p:spPr>
            <a:xfrm>
              <a:off x="190" y="489"/>
              <a:ext cx="18000" cy="4357"/>
            </a:xfrm>
            <a:prstGeom prst="roundRect">
              <a:avLst/>
            </a:prstGeom>
            <a:noFill/>
            <a:ln>
              <a:solidFill>
                <a:srgbClr val="7030A0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10" name="图片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077" y="687"/>
              <a:ext cx="3808" cy="470"/>
            </a:xfrm>
            <a:prstGeom prst="rect">
              <a:avLst/>
            </a:prstGeom>
          </p:spPr>
        </p:pic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807" y="5474"/>
              <a:ext cx="5093" cy="890"/>
            </a:xfrm>
            <a:prstGeom prst="rect">
              <a:avLst/>
            </a:prstGeom>
          </p:spPr>
        </p:pic>
        <p:pic>
          <p:nvPicPr>
            <p:cNvPr id="15" name="图片 14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706" y="8391"/>
              <a:ext cx="769" cy="391"/>
            </a:xfrm>
            <a:prstGeom prst="rect">
              <a:avLst/>
            </a:prstGeom>
          </p:spPr>
        </p:pic>
        <p:pic>
          <p:nvPicPr>
            <p:cNvPr id="16" name="图片 15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126" y="9846"/>
              <a:ext cx="697" cy="411"/>
            </a:xfrm>
            <a:prstGeom prst="rect">
              <a:avLst/>
            </a:prstGeom>
          </p:spPr>
        </p:pic>
        <p:sp>
          <p:nvSpPr>
            <p:cNvPr id="17" name="圆角矩形 16"/>
            <p:cNvSpPr/>
            <p:nvPr/>
          </p:nvSpPr>
          <p:spPr>
            <a:xfrm>
              <a:off x="190" y="5279"/>
              <a:ext cx="18000" cy="5423"/>
            </a:xfrm>
            <a:prstGeom prst="roundRect">
              <a:avLst/>
            </a:prstGeom>
            <a:noFill/>
            <a:ln>
              <a:solidFill>
                <a:srgbClr val="7030A0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71" name="图片 70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458" y="2066"/>
              <a:ext cx="1105" cy="1438"/>
            </a:xfrm>
            <a:prstGeom prst="rect">
              <a:avLst/>
            </a:prstGeom>
          </p:spPr>
        </p:pic>
        <p:sp>
          <p:nvSpPr>
            <p:cNvPr id="73" name="矩形 72"/>
            <p:cNvSpPr/>
            <p:nvPr/>
          </p:nvSpPr>
          <p:spPr>
            <a:xfrm>
              <a:off x="11077" y="1754"/>
              <a:ext cx="2496" cy="2691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4" name="下箭头 73"/>
            <p:cNvSpPr/>
            <p:nvPr/>
          </p:nvSpPr>
          <p:spPr>
            <a:xfrm>
              <a:off x="12156" y="4536"/>
              <a:ext cx="280" cy="939"/>
            </a:xfrm>
            <a:prstGeom prst="downArrow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5" name="下箭头 74"/>
            <p:cNvSpPr/>
            <p:nvPr/>
          </p:nvSpPr>
          <p:spPr>
            <a:xfrm>
              <a:off x="11911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6" name="下箭头 75"/>
            <p:cNvSpPr/>
            <p:nvPr/>
          </p:nvSpPr>
          <p:spPr>
            <a:xfrm>
              <a:off x="13278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7" name="下箭头 76"/>
            <p:cNvSpPr/>
            <p:nvPr/>
          </p:nvSpPr>
          <p:spPr>
            <a:xfrm>
              <a:off x="14796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8" name="文本框 77"/>
            <p:cNvSpPr txBox="1"/>
            <p:nvPr/>
          </p:nvSpPr>
          <p:spPr>
            <a:xfrm>
              <a:off x="11601" y="1281"/>
              <a:ext cx="1448" cy="5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200"/>
                <a:t>PVMM</a:t>
              </a:r>
              <a:endParaRPr lang="en-US" altLang="zh-CN" sz="1200"/>
            </a:p>
          </p:txBody>
        </p:sp>
        <p:sp>
          <p:nvSpPr>
            <p:cNvPr id="79" name="下箭头 78"/>
            <p:cNvSpPr/>
            <p:nvPr/>
          </p:nvSpPr>
          <p:spPr>
            <a:xfrm rot="16200000">
              <a:off x="10745" y="280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80" name="图片 79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39" y="5633"/>
              <a:ext cx="6846" cy="1427"/>
            </a:xfrm>
            <a:prstGeom prst="rect">
              <a:avLst/>
            </a:prstGeom>
          </p:spPr>
        </p:pic>
        <p:sp>
          <p:nvSpPr>
            <p:cNvPr id="823" name="矩形 822"/>
            <p:cNvSpPr/>
            <p:nvPr/>
          </p:nvSpPr>
          <p:spPr>
            <a:xfrm>
              <a:off x="15588" y="1648"/>
              <a:ext cx="536" cy="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825" name="图片 824"/>
            <p:cNvPicPr/>
            <p:nvPr/>
          </p:nvPicPr>
          <p:blipFill>
            <a:blip r:embed="rId9"/>
            <a:stretch>
              <a:fillRect/>
            </a:stretch>
          </p:blipFill>
          <p:spPr>
            <a:xfrm>
              <a:off x="650" y="994"/>
              <a:ext cx="1788" cy="1942"/>
            </a:xfrm>
            <a:prstGeom prst="rect">
              <a:avLst/>
            </a:prstGeom>
          </p:spPr>
        </p:pic>
        <p:cxnSp>
          <p:nvCxnSpPr>
            <p:cNvPr id="827" name="曲线连接符 826"/>
            <p:cNvCxnSpPr>
              <a:stCxn id="7" idx="3"/>
              <a:endCxn id="10" idx="1"/>
            </p:cNvCxnSpPr>
            <p:nvPr/>
          </p:nvCxnSpPr>
          <p:spPr>
            <a:xfrm flipV="1">
              <a:off x="7898" y="922"/>
              <a:ext cx="3179" cy="7665"/>
            </a:xfrm>
            <a:prstGeom prst="curvedConnector3">
              <a:avLst>
                <a:gd name="adj1" fmla="val 24001"/>
              </a:avLst>
            </a:prstGeom>
            <a:ln>
              <a:solidFill>
                <a:srgbClr val="7030A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2" name="图片 1" descr="ChatGPT Image 2026年2月28日 14_37_35"/>
            <p:cNvPicPr>
              <a:picLocks noChangeAspect="1"/>
            </p:cNvPicPr>
            <p:nvPr/>
          </p:nvPicPr>
          <p:blipFill>
            <a:blip r:embed="rId10"/>
            <a:srcRect l="4301" r="16713" b="10280"/>
            <a:stretch>
              <a:fillRect/>
            </a:stretch>
          </p:blipFill>
          <p:spPr>
            <a:xfrm>
              <a:off x="15515" y="647"/>
              <a:ext cx="2151" cy="3849"/>
            </a:xfrm>
            <a:prstGeom prst="rect">
              <a:avLst/>
            </a:prstGeom>
          </p:spPr>
        </p:pic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1"/>
            <a:srcRect l="-2807"/>
            <a:stretch>
              <a:fillRect/>
            </a:stretch>
          </p:blipFill>
          <p:spPr>
            <a:xfrm>
              <a:off x="839" y="3304"/>
              <a:ext cx="6921" cy="1344"/>
            </a:xfrm>
            <a:prstGeom prst="rect">
              <a:avLst/>
            </a:prstGeom>
          </p:spPr>
        </p:pic>
        <p:pic>
          <p:nvPicPr>
            <p:cNvPr id="7" name="图片 6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349" y="7156"/>
              <a:ext cx="6549" cy="2862"/>
            </a:xfrm>
            <a:prstGeom prst="rect">
              <a:avLst/>
            </a:prstGeom>
          </p:spPr>
        </p:pic>
      </p:grpSp>
      <p:pic>
        <p:nvPicPr>
          <p:cNvPr id="8" name="图片 7" descr="01_simulator_framework"/>
          <p:cNvPicPr>
            <a:picLocks noChangeAspect="1"/>
          </p:cNvPicPr>
          <p:nvPr/>
        </p:nvPicPr>
        <p:blipFill>
          <a:blip r:embed="rId13"/>
          <a:srcRect t="8854" b="2523"/>
          <a:stretch>
            <a:fillRect/>
          </a:stretch>
        </p:blipFill>
        <p:spPr>
          <a:xfrm>
            <a:off x="0" y="876300"/>
            <a:ext cx="9144000" cy="568833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06_sweep_T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rcRect r="49901" b="923"/>
          <a:stretch>
            <a:fillRect/>
          </a:stretch>
        </p:blipFill>
        <p:spPr>
          <a:xfrm>
            <a:off x="4944904" y="3308826"/>
            <a:ext cx="4122896" cy="3322320"/>
          </a:xfrm>
          <a:prstGeom prst="rect">
            <a:avLst/>
          </a:prstGeom>
        </p:spPr>
      </p:pic>
      <p:pic>
        <p:nvPicPr>
          <p:cNvPr id="3" name="图片 2" descr="05_mnist_training_curves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rcRect t="9959" r="50245"/>
          <a:stretch>
            <a:fillRect/>
          </a:stretch>
        </p:blipFill>
        <p:spPr>
          <a:xfrm>
            <a:off x="111919" y="3309303"/>
            <a:ext cx="4528661" cy="3321844"/>
          </a:xfrm>
          <a:prstGeom prst="rect">
            <a:avLst/>
          </a:prstGeom>
        </p:spPr>
      </p:pic>
      <p:sp>
        <p:nvSpPr>
          <p:cNvPr id="17" name="文本框 16"/>
          <p:cNvSpPr txBox="1"/>
          <p:nvPr>
            <p:custDataLst>
              <p:tags r:id="rId5"/>
            </p:custDataLst>
          </p:nvPr>
        </p:nvSpPr>
        <p:spPr>
          <a:xfrm>
            <a:off x="-41910" y="317087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6"/>
            </p:custDataLst>
          </p:nvPr>
        </p:nvSpPr>
        <p:spPr>
          <a:xfrm>
            <a:off x="4762024" y="317087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图片 6" descr="02_pbnn_mlp_architecture"/>
          <p:cNvPicPr>
            <a:picLocks noChangeAspect="1"/>
          </p:cNvPicPr>
          <p:nvPr/>
        </p:nvPicPr>
        <p:blipFill>
          <a:blip r:embed="rId7"/>
          <a:srcRect l="1282" t="17726" r="12052" b="22337"/>
          <a:stretch>
            <a:fillRect/>
          </a:stretch>
        </p:blipFill>
        <p:spPr>
          <a:xfrm>
            <a:off x="159" y="113983"/>
            <a:ext cx="9151620" cy="2717006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-41910" y="-317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10_uci_accuracy_curves"/>
          <p:cNvPicPr>
            <a:picLocks noChangeAspect="1"/>
          </p:cNvPicPr>
          <p:nvPr/>
        </p:nvPicPr>
        <p:blipFill>
          <a:blip r:embed="rId1"/>
          <a:srcRect l="-109" t="7593"/>
          <a:stretch>
            <a:fillRect/>
          </a:stretch>
        </p:blipFill>
        <p:spPr>
          <a:xfrm>
            <a:off x="0" y="1247775"/>
            <a:ext cx="9144000" cy="47529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11b_scheduler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641408"/>
            <a:ext cx="9144000" cy="2359343"/>
          </a:xfrm>
          <a:prstGeom prst="rect">
            <a:avLst/>
          </a:prstGeom>
        </p:spPr>
      </p:pic>
      <p:pic>
        <p:nvPicPr>
          <p:cNvPr id="5" name="图片 4" descr="11a_optimizers"/>
          <p:cNvPicPr>
            <a:picLocks noChangeAspect="1"/>
          </p:cNvPicPr>
          <p:nvPr/>
        </p:nvPicPr>
        <p:blipFill>
          <a:blip r:embed="rId2"/>
          <a:srcRect t="-3600"/>
          <a:stretch>
            <a:fillRect/>
          </a:stretch>
        </p:blipFill>
        <p:spPr>
          <a:xfrm>
            <a:off x="1074420" y="857250"/>
            <a:ext cx="6980873" cy="2672239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7622" y="84296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400">
                <a:latin typeface="Arial"/>
              </a:rPr>
              <a:t>(a)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-27622" y="3527108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400">
                <a:latin typeface="Arial"/>
              </a:rPr>
              <a:t>(b)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 descr="12a_landscape_contours"/>
          <p:cNvPicPr>
            <a:picLocks noChangeAspect="1"/>
          </p:cNvPicPr>
          <p:nvPr/>
        </p:nvPicPr>
        <p:blipFill>
          <a:blip r:embed="rId1"/>
          <a:srcRect t="12285"/>
          <a:stretch>
            <a:fillRect/>
          </a:stretch>
        </p:blipFill>
        <p:spPr>
          <a:xfrm>
            <a:off x="133350" y="435610"/>
            <a:ext cx="8935085" cy="2711450"/>
          </a:xfrm>
          <a:prstGeom prst="rect">
            <a:avLst/>
          </a:prstGeom>
        </p:spPr>
      </p:pic>
      <p:pic>
        <p:nvPicPr>
          <p:cNvPr id="4" name="图片 3" descr="12c_optimum_interp"/>
          <p:cNvPicPr>
            <a:picLocks noChangeAspect="1"/>
          </p:cNvPicPr>
          <p:nvPr/>
        </p:nvPicPr>
        <p:blipFill>
          <a:blip r:embed="rId2"/>
          <a:srcRect t="5578"/>
          <a:stretch>
            <a:fillRect/>
          </a:stretch>
        </p:blipFill>
        <p:spPr>
          <a:xfrm>
            <a:off x="3937000" y="3536315"/>
            <a:ext cx="5107940" cy="2583180"/>
          </a:xfrm>
          <a:prstGeom prst="rect">
            <a:avLst/>
          </a:prstGeom>
        </p:spPr>
      </p:pic>
      <p:pic>
        <p:nvPicPr>
          <p:cNvPr id="6" name="图片 5" descr="12b_pca_trajectories"/>
          <p:cNvPicPr>
            <a:picLocks noChangeAspect="1"/>
          </p:cNvPicPr>
          <p:nvPr/>
        </p:nvPicPr>
        <p:blipFill>
          <a:blip r:embed="rId3"/>
          <a:srcRect t="4161"/>
          <a:stretch>
            <a:fillRect/>
          </a:stretch>
        </p:blipFill>
        <p:spPr>
          <a:xfrm>
            <a:off x="180975" y="3544570"/>
            <a:ext cx="3572510" cy="244792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7622" y="2828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400">
                <a:latin typeface="Arial"/>
              </a:rPr>
              <a:t>(a)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-27622" y="32800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400">
                <a:latin typeface="Arial"/>
              </a:rPr>
              <a:t>(b)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694113" y="32800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400">
                <a:latin typeface="Arial"/>
              </a:rPr>
              <a:t>(c)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9" name="图片 28" descr="Gemini_Generated_Image_r8iem3r8iem3r8ie"/>
          <p:cNvPicPr>
            <a:picLocks noChangeAspect="1"/>
          </p:cNvPicPr>
          <p:nvPr/>
        </p:nvPicPr>
        <p:blipFill>
          <a:blip r:embed="rId1"/>
          <a:srcRect b="3511"/>
          <a:stretch>
            <a:fillRect/>
          </a:stretch>
        </p:blipFill>
        <p:spPr>
          <a:xfrm>
            <a:off x="2777331" y="-4761547"/>
            <a:ext cx="4233863" cy="3502819"/>
          </a:xfrm>
          <a:prstGeom prst="rect">
            <a:avLst/>
          </a:prstGeom>
        </p:spPr>
      </p:pic>
      <p:pic>
        <p:nvPicPr>
          <p:cNvPr id="4" name="图片 3" descr="Gemini_Generated_Image_lik3tglik3tglik3"/>
          <p:cNvPicPr>
            <a:picLocks noChangeAspect="1"/>
          </p:cNvPicPr>
          <p:nvPr/>
        </p:nvPicPr>
        <p:blipFill>
          <a:blip r:embed="rId2"/>
          <a:srcRect l="48719" b="14950"/>
          <a:stretch>
            <a:fillRect/>
          </a:stretch>
        </p:blipFill>
        <p:spPr>
          <a:xfrm>
            <a:off x="7011194" y="-4761071"/>
            <a:ext cx="3782854" cy="3502343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825625" y="-3491389"/>
            <a:ext cx="3603784" cy="1812131"/>
          </a:xfrm>
          <a:prstGeom prst="rect">
            <a:avLst/>
          </a:prstGeom>
        </p:spPr>
      </p:pic>
      <p:pic>
        <p:nvPicPr>
          <p:cNvPr id="7" name="图片 6" descr="03_mnist_noise_grid"/>
          <p:cNvPicPr>
            <a:picLocks noChangeAspect="1"/>
          </p:cNvPicPr>
          <p:nvPr/>
        </p:nvPicPr>
        <p:blipFill>
          <a:blip r:embed="rId4"/>
          <a:srcRect t="7582" b="4204"/>
          <a:stretch>
            <a:fillRect/>
          </a:stretch>
        </p:blipFill>
        <p:spPr>
          <a:xfrm>
            <a:off x="3810" y="423545"/>
            <a:ext cx="9140190" cy="492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8" name="组合 17"/>
          <p:cNvGrpSpPr/>
          <p:nvPr/>
        </p:nvGrpSpPr>
        <p:grpSpPr>
          <a:xfrm>
            <a:off x="635" y="1263650"/>
            <a:ext cx="9142730" cy="3809365"/>
            <a:chOff x="1" y="1990"/>
            <a:chExt cx="14398" cy="5999"/>
          </a:xfrm>
        </p:grpSpPr>
        <p:pic>
          <p:nvPicPr>
            <p:cNvPr id="2" name="图片 1" descr="07_baseline_noise_robustness"/>
            <p:cNvPicPr>
              <a:picLocks noChangeAspect="1"/>
            </p:cNvPicPr>
            <p:nvPr/>
          </p:nvPicPr>
          <p:blipFill>
            <a:blip r:embed="rId1"/>
            <a:srcRect t="7636"/>
            <a:stretch>
              <a:fillRect/>
            </a:stretch>
          </p:blipFill>
          <p:spPr>
            <a:xfrm>
              <a:off x="1" y="2015"/>
              <a:ext cx="14399" cy="5975"/>
            </a:xfrm>
            <a:prstGeom prst="rect">
              <a:avLst/>
            </a:prstGeom>
          </p:spPr>
        </p:pic>
        <p:sp>
          <p:nvSpPr>
            <p:cNvPr id="3" name="矩形 2"/>
            <p:cNvSpPr/>
            <p:nvPr/>
          </p:nvSpPr>
          <p:spPr>
            <a:xfrm>
              <a:off x="1312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" name="矩形 3"/>
            <p:cNvSpPr/>
            <p:nvPr/>
          </p:nvSpPr>
          <p:spPr>
            <a:xfrm>
              <a:off x="4976" y="199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" name="矩形 4"/>
            <p:cNvSpPr/>
            <p:nvPr/>
          </p:nvSpPr>
          <p:spPr>
            <a:xfrm>
              <a:off x="8328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12224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2050" y="495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8444" y="495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4976" y="4963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1312" y="49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44767" y="11718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(a)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2317433" y="11718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(b)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578033" y="11718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(c)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864033" y="11718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(d)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060700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(e)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317433" y="3060700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(f)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4578033" y="3060700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(g)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6864033" y="3060700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(h)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 descr="04_encoding_comparison_fixed"/>
          <p:cNvPicPr>
            <a:picLocks noChangeAspect="1"/>
          </p:cNvPicPr>
          <p:nvPr/>
        </p:nvPicPr>
        <p:blipFill>
          <a:blip r:embed="rId1"/>
          <a:srcRect l="51468" t="5803" b="4694"/>
          <a:stretch>
            <a:fillRect/>
          </a:stretch>
        </p:blipFill>
        <p:spPr>
          <a:xfrm>
            <a:off x="4763770" y="933450"/>
            <a:ext cx="4380230" cy="5405755"/>
          </a:xfrm>
          <a:prstGeom prst="rect">
            <a:avLst/>
          </a:prstGeom>
        </p:spPr>
      </p:pic>
      <p:pic>
        <p:nvPicPr>
          <p:cNvPr id="2" name="图片 1" descr="04_encoding_comparison_fixed"/>
          <p:cNvPicPr>
            <a:picLocks noChangeAspect="1"/>
          </p:cNvPicPr>
          <p:nvPr/>
        </p:nvPicPr>
        <p:blipFill>
          <a:blip r:embed="rId1"/>
          <a:srcRect t="7137" r="51455" b="4694"/>
          <a:stretch>
            <a:fillRect/>
          </a:stretch>
        </p:blipFill>
        <p:spPr>
          <a:xfrm>
            <a:off x="170815" y="933450"/>
            <a:ext cx="4448175" cy="5405120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6829" y="87550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745355" y="87550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-26829" y="329676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745355" y="329676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9c_effective_error_dis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9950" y="3804285"/>
            <a:ext cx="5213985" cy="2770505"/>
          </a:xfrm>
          <a:prstGeom prst="rect">
            <a:avLst/>
          </a:prstGeom>
        </p:spPr>
      </p:pic>
      <p:pic>
        <p:nvPicPr>
          <p:cNvPr id="5" name="图片 4" descr="09a_per_bit_sensitivit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1350"/>
            <a:ext cx="4501515" cy="2787650"/>
          </a:xfrm>
          <a:prstGeom prst="rect">
            <a:avLst/>
          </a:prstGeom>
        </p:spPr>
      </p:pic>
      <p:pic>
        <p:nvPicPr>
          <p:cNvPr id="6" name="图片 5" descr="09b_bitflip_accuracy"/>
          <p:cNvPicPr>
            <a:picLocks noChangeAspect="1"/>
          </p:cNvPicPr>
          <p:nvPr/>
        </p:nvPicPr>
        <p:blipFill>
          <a:blip r:embed="rId3"/>
          <a:srcRect b="1503"/>
          <a:stretch>
            <a:fillRect/>
          </a:stretch>
        </p:blipFill>
        <p:spPr>
          <a:xfrm>
            <a:off x="4572000" y="641350"/>
            <a:ext cx="4572000" cy="276669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71279" y="36052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631055" y="36052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834356" y="357870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8a_psw_nonideality_curves"/>
          <p:cNvPicPr>
            <a:picLocks noChangeAspect="1"/>
          </p:cNvPicPr>
          <p:nvPr/>
        </p:nvPicPr>
        <p:blipFill>
          <a:blip r:embed="rId1"/>
          <a:srcRect t="9251"/>
          <a:stretch>
            <a:fillRect/>
          </a:stretch>
        </p:blipFill>
        <p:spPr>
          <a:xfrm>
            <a:off x="0" y="1060450"/>
            <a:ext cx="9144000" cy="4709160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1076325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4268470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4133215" y="349250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1171575" y="347726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6815455" y="348742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7318375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-44767" y="10321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47683" y="1031558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483" y="10321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362960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47683" y="3362960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46483" y="3399155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1" name="组合 10"/>
          <p:cNvGrpSpPr/>
          <p:nvPr/>
        </p:nvGrpSpPr>
        <p:grpSpPr>
          <a:xfrm>
            <a:off x="0" y="1142365"/>
            <a:ext cx="9144000" cy="4679950"/>
            <a:chOff x="0" y="1799"/>
            <a:chExt cx="14400" cy="7370"/>
          </a:xfrm>
        </p:grpSpPr>
        <p:pic>
          <p:nvPicPr>
            <p:cNvPr id="4" name="图片 3" descr="08b_nonideality_accuracy"/>
            <p:cNvPicPr>
              <a:picLocks noChangeAspect="1"/>
            </p:cNvPicPr>
            <p:nvPr/>
          </p:nvPicPr>
          <p:blipFill>
            <a:blip r:embed="rId1"/>
            <a:srcRect t="9691"/>
            <a:stretch>
              <a:fillRect/>
            </a:stretch>
          </p:blipFill>
          <p:spPr>
            <a:xfrm>
              <a:off x="0" y="1799"/>
              <a:ext cx="14400" cy="7371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645" y="18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6735" y="18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1479" y="186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0733" y="553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6403" y="5533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2079" y="553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953" y="1063308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87688" y="1063308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57913" y="1063308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953" y="3401060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87688" y="3401060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57913" y="3437255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3a_training_energy_breakdown"/>
          <p:cNvPicPr>
            <a:picLocks noChangeAspect="1"/>
          </p:cNvPicPr>
          <p:nvPr/>
        </p:nvPicPr>
        <p:blipFill>
          <a:blip r:embed="rId1"/>
          <a:srcRect t="4381"/>
          <a:stretch>
            <a:fillRect/>
          </a:stretch>
        </p:blipFill>
        <p:spPr>
          <a:xfrm>
            <a:off x="0" y="1104900"/>
            <a:ext cx="9144000" cy="517080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apter04_local_14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0000" y="502920"/>
            <a:ext cx="5984000" cy="62179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502920"/>
            <a:ext cx="2810256" cy="24210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66872" y="502920"/>
            <a:ext cx="2810256" cy="23822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05144" y="502920"/>
            <a:ext cx="2810256" cy="245115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4279392" cy="35668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36007" y="502920"/>
            <a:ext cx="4279392" cy="35064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81727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600" y="502920"/>
            <a:ext cx="2810256" cy="231709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66872" y="502920"/>
            <a:ext cx="2810256" cy="25203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05144" y="502920"/>
            <a:ext cx="2810256" cy="24908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apter04_local_18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502920"/>
            <a:ext cx="8686800" cy="451713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502920"/>
            <a:ext cx="8686800" cy="237726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22203" y="307859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9374" y="307859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3230" y="307859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de_pipelin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502920"/>
            <a:ext cx="8686800" cy="466269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al_model_consistency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502920"/>
            <a:ext cx="8686800" cy="612816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502920"/>
            <a:ext cx="4279392" cy="30847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6007" y="502920"/>
            <a:ext cx="4279392" cy="25700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81727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502920"/>
            <a:ext cx="8686800" cy="3474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8063" y="40148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05476" y="40148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2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3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4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5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6.xml><?xml version="1.0" encoding="utf-8"?>
<p:tagLst xmlns:p="http://schemas.openxmlformats.org/presentationml/2006/main">
  <p:tag name="KSO_WM_DIAGRAM_VIRTUALLY_FRAME" val="{&quot;height&quot;:280.85055118110233,&quot;left&quot;:18,&quot;top&quot;:39.6,&quot;width&quot;:683.9999212598425}"/>
</p:tagLst>
</file>

<file path=ppt/tags/tag7.xml><?xml version="1.0" encoding="utf-8"?>
<p:tagLst xmlns:p="http://schemas.openxmlformats.org/presentationml/2006/main">
  <p:tag name="KSO_WM_DIAGRAM_VIRTUALLY_FRAME" val="{&quot;height&quot;:280.85055118110233,&quot;left&quot;:18,&quot;top&quot;:39.6,&quot;width&quot;:683.9999212598425}"/>
</p:tagLst>
</file>

<file path=ppt/tags/tag8.xml><?xml version="1.0" encoding="utf-8"?>
<p:tagLst xmlns:p="http://schemas.openxmlformats.org/presentationml/2006/main">
  <p:tag name="KSO_WM_DIAGRAM_VIRTUALLY_FRAME" val="{&quot;height&quot;:280.85055118110233,&quot;left&quot;:18,&quot;top&quot;:39.6,&quot;width&quot;:683.9999212598425}"/>
</p:tagLst>
</file>

<file path=ppt/tags/tag9.xml><?xml version="1.0" encoding="utf-8"?>
<p:tagLst xmlns:p="http://schemas.openxmlformats.org/presentationml/2006/main">
  <p:tag name="KSO_WM_DIAGRAM_VIRTUALLY_FRAME" val="{&quot;height&quot;:280.85055118110233,&quot;left&quot;:18,&quot;top&quot;:39.6,&quot;width&quot;:683.9999212598425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</Words>
  <Application>WPS 演示</Application>
  <PresentationFormat>宽屏</PresentationFormat>
  <Paragraphs>88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8" baseType="lpstr">
      <vt:lpstr>Arial</vt:lpstr>
      <vt:lpstr>宋体</vt:lpstr>
      <vt:lpstr>Wingdings</vt:lpstr>
      <vt:lpstr>Calibri</vt:lpstr>
      <vt:lpstr>微软雅黑</vt:lpstr>
      <vt:lpstr>Arial Unicode MS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邵东一中_张锦程</cp:lastModifiedBy>
  <cp:revision>165</cp:revision>
  <dcterms:created xsi:type="dcterms:W3CDTF">2023-08-09T12:44:00Z</dcterms:created>
  <dcterms:modified xsi:type="dcterms:W3CDTF">2026-07-08T08:45:59Z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3BE5593CD241477DBD730381EB4EDBF0_12</vt:lpwstr>
  </property>
</Properties>
</file>