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0" r:id="rId3"/>
    <p:sldId id="258" r:id="rId5"/>
    <p:sldId id="260" r:id="rId6"/>
    <p:sldId id="266" r:id="rId7"/>
    <p:sldId id="267" r:id="rId8"/>
    <p:sldId id="268" r:id="rId9"/>
    <p:sldId id="263" r:id="rId10"/>
    <p:sldId id="272" r:id="rId11"/>
    <p:sldId id="257" r:id="rId12"/>
    <p:sldId id="273" r:id="rId13"/>
    <p:sldId id="274" r:id="rId14"/>
    <p:sldId id="275" r:id="rId15"/>
    <p:sldId id="271" r:id="rId16"/>
    <p:sldId id="282" r:id="rId17"/>
    <p:sldId id="276" r:id="rId18"/>
    <p:sldId id="277" r:id="rId19"/>
    <p:sldId id="278" r:id="rId20"/>
    <p:sldId id="283" r:id="rId21"/>
    <p:sldId id="279" r:id="rId22"/>
    <p:sldId id="280" r:id="rId23"/>
    <p:sldId id="281" r:id="rId24"/>
    <p:sldId id="284" r:id="rId28"/>
    <p:sldId id="285" r:id="rId29"/>
    <p:sldId id="286" r:id="rId30"/>
    <p:sldId id="287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8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34B"/>
    <a:srgbClr val="2C1B3B"/>
    <a:srgbClr val="3C1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18"/>
        <p:guide pos="28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FIG:01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FIG:02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FIG:06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FIG:09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FIG:14:VECTOR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FIG:18:VECTOR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FIG:21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7610475" y="-6413500"/>
            <a:ext cx="1181100" cy="101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/>
        </p:nvSpPr>
        <p:spPr>
          <a:xfrm>
            <a:off x="-7610475" y="12230100"/>
            <a:ext cx="1181100" cy="101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 userDrawn="1"/>
        </p:nvSpPr>
        <p:spPr>
          <a:xfrm>
            <a:off x="15363825" y="-6413500"/>
            <a:ext cx="1181100" cy="101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 userDrawn="1"/>
        </p:nvSpPr>
        <p:spPr>
          <a:xfrm>
            <a:off x="15363825" y="12230100"/>
            <a:ext cx="1181100" cy="1016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webp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16.png"/><Relationship Id="rId3" Type="http://schemas.openxmlformats.org/officeDocument/2006/relationships/tags" Target="../tags/tag2.xml"/><Relationship Id="rId4" Type="http://schemas.openxmlformats.org/officeDocument/2006/relationships/image" Target="../media/image17.png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image" Target="../media/image18.png"/><Relationship Id="rId8" Type="http://schemas.openxmlformats.org/officeDocument/2006/relationships/tags" Target="../tags/tag5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image" Target="../media/image41.png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image" Target="../media/image42.png"/><Relationship Id="rId6" Type="http://schemas.openxmlformats.org/officeDocument/2006/relationships/tags" Target="../tags/tag9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Relationship Id="rId9" Type="http://schemas.openxmlformats.org/officeDocument/2006/relationships/image" Target="../media/image5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5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63.png"/><Relationship Id="rId6" Type="http://schemas.openxmlformats.org/officeDocument/2006/relationships/image" Target="../media/image6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65.png"/><Relationship Id="rId5" Type="http://schemas.openxmlformats.org/officeDocument/2006/relationships/image" Target="../media/image6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641975"/>
            <a:ext cx="9144000" cy="4984750"/>
          </a:xfrm>
          <a:prstGeom prst="rect">
            <a:avLst/>
          </a:prstGeom>
        </p:spPr>
      </p:pic>
      <p:pic>
        <p:nvPicPr>
          <p:cNvPr id="3" name="图片 2" descr="Chapter04_local_01"/>
          <p:cNvPicPr>
            <a:picLocks noChangeAspect="1"/>
          </p:cNvPicPr>
          <p:nvPr/>
        </p:nvPicPr>
        <p:blipFill>
          <a:blip r:embed="rId2"/>
          <a:srcRect l="1806" r="3076"/>
          <a:stretch>
            <a:fillRect/>
          </a:stretch>
        </p:blipFill>
        <p:spPr>
          <a:xfrm>
            <a:off x="0" y="869315"/>
            <a:ext cx="9112250" cy="5362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90488" y="-5671502"/>
            <a:ext cx="8572500" cy="4863941"/>
            <a:chOff x="190" y="489"/>
            <a:chExt cx="18000" cy="10213"/>
          </a:xfrm>
        </p:grpSpPr>
        <p:pic>
          <p:nvPicPr>
            <p:cNvPr id="822" name="图片 8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976" y="6684"/>
              <a:ext cx="7425" cy="3287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23" y="1589"/>
              <a:ext cx="4181" cy="2947"/>
            </a:xfrm>
            <a:prstGeom prst="rect">
              <a:avLst/>
            </a:prstGeom>
          </p:spPr>
        </p:pic>
        <p:sp>
          <p:nvSpPr>
            <p:cNvPr id="6" name="圆角矩形 5"/>
            <p:cNvSpPr/>
            <p:nvPr/>
          </p:nvSpPr>
          <p:spPr>
            <a:xfrm>
              <a:off x="190" y="489"/>
              <a:ext cx="18000" cy="4357"/>
            </a:xfrm>
            <a:prstGeom prst="roundRect">
              <a:avLst/>
            </a:prstGeom>
            <a:noFill/>
            <a:ln>
              <a:solidFill>
                <a:srgbClr val="7030A0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77" y="687"/>
              <a:ext cx="3808" cy="47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07" y="5474"/>
              <a:ext cx="5093" cy="89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706" y="8391"/>
              <a:ext cx="769" cy="39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126" y="9846"/>
              <a:ext cx="697" cy="411"/>
            </a:xfrm>
            <a:prstGeom prst="rect">
              <a:avLst/>
            </a:prstGeom>
          </p:spPr>
        </p:pic>
        <p:sp>
          <p:nvSpPr>
            <p:cNvPr id="17" name="圆角矩形 16"/>
            <p:cNvSpPr/>
            <p:nvPr/>
          </p:nvSpPr>
          <p:spPr>
            <a:xfrm>
              <a:off x="190" y="5279"/>
              <a:ext cx="18000" cy="5423"/>
            </a:xfrm>
            <a:prstGeom prst="roundRect">
              <a:avLst/>
            </a:prstGeom>
            <a:noFill/>
            <a:ln>
              <a:solidFill>
                <a:srgbClr val="7030A0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58" y="2066"/>
              <a:ext cx="1105" cy="1438"/>
            </a:xfrm>
            <a:prstGeom prst="rect">
              <a:avLst/>
            </a:prstGeom>
          </p:spPr>
        </p:pic>
        <p:sp>
          <p:nvSpPr>
            <p:cNvPr id="73" name="矩形 72"/>
            <p:cNvSpPr/>
            <p:nvPr/>
          </p:nvSpPr>
          <p:spPr>
            <a:xfrm>
              <a:off x="11077" y="1754"/>
              <a:ext cx="2496" cy="269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74" name="下箭头 73"/>
            <p:cNvSpPr/>
            <p:nvPr/>
          </p:nvSpPr>
          <p:spPr>
            <a:xfrm>
              <a:off x="12156" y="4536"/>
              <a:ext cx="280" cy="939"/>
            </a:xfrm>
            <a:prstGeom prst="down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75" name="下箭头 74"/>
            <p:cNvSpPr/>
            <p:nvPr/>
          </p:nvSpPr>
          <p:spPr>
            <a:xfrm>
              <a:off x="11911" y="6291"/>
              <a:ext cx="151" cy="315"/>
            </a:xfrm>
            <a:prstGeom prst="downArrow">
              <a:avLst>
                <a:gd name="adj1" fmla="val 32450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76" name="下箭头 75"/>
            <p:cNvSpPr/>
            <p:nvPr/>
          </p:nvSpPr>
          <p:spPr>
            <a:xfrm>
              <a:off x="13278" y="6291"/>
              <a:ext cx="151" cy="315"/>
            </a:xfrm>
            <a:prstGeom prst="downArrow">
              <a:avLst>
                <a:gd name="adj1" fmla="val 32450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77" name="下箭头 76"/>
            <p:cNvSpPr/>
            <p:nvPr/>
          </p:nvSpPr>
          <p:spPr>
            <a:xfrm>
              <a:off x="14796" y="6291"/>
              <a:ext cx="151" cy="315"/>
            </a:xfrm>
            <a:prstGeom prst="downArrow">
              <a:avLst>
                <a:gd name="adj1" fmla="val 32450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1601" y="1281"/>
              <a:ext cx="1448" cy="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PVMM</a:t>
              </a:r>
              <a:endParaRPr lang="en-US" altLang="zh-CN" sz="1200"/>
            </a:p>
          </p:txBody>
        </p:sp>
        <p:sp>
          <p:nvSpPr>
            <p:cNvPr id="79" name="下箭头 78"/>
            <p:cNvSpPr/>
            <p:nvPr/>
          </p:nvSpPr>
          <p:spPr>
            <a:xfrm rot="16200000">
              <a:off x="10745" y="2801"/>
              <a:ext cx="151" cy="315"/>
            </a:xfrm>
            <a:prstGeom prst="downArrow">
              <a:avLst>
                <a:gd name="adj1" fmla="val 32450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pic>
          <p:nvPicPr>
            <p:cNvPr id="80" name="图片 7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9" y="5633"/>
              <a:ext cx="6846" cy="1427"/>
            </a:xfrm>
            <a:prstGeom prst="rect">
              <a:avLst/>
            </a:prstGeom>
          </p:spPr>
        </p:pic>
        <p:sp>
          <p:nvSpPr>
            <p:cNvPr id="823" name="矩形 822"/>
            <p:cNvSpPr/>
            <p:nvPr/>
          </p:nvSpPr>
          <p:spPr>
            <a:xfrm>
              <a:off x="15588" y="1648"/>
              <a:ext cx="536" cy="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pic>
          <p:nvPicPr>
            <p:cNvPr id="825" name="图片 824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650" y="994"/>
              <a:ext cx="1788" cy="1942"/>
            </a:xfrm>
            <a:prstGeom prst="rect">
              <a:avLst/>
            </a:prstGeom>
          </p:spPr>
        </p:pic>
        <p:cxnSp>
          <p:nvCxnSpPr>
            <p:cNvPr id="827" name="曲线连接符 826"/>
            <p:cNvCxnSpPr>
              <a:stCxn id="7" idx="3"/>
              <a:endCxn id="10" idx="1"/>
            </p:cNvCxnSpPr>
            <p:nvPr/>
          </p:nvCxnSpPr>
          <p:spPr>
            <a:xfrm flipV="1">
              <a:off x="7898" y="922"/>
              <a:ext cx="3179" cy="7665"/>
            </a:xfrm>
            <a:prstGeom prst="curvedConnector3">
              <a:avLst>
                <a:gd name="adj1" fmla="val 24001"/>
              </a:avLst>
            </a:prstGeom>
            <a:ln>
              <a:solidFill>
                <a:srgbClr val="7030A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" name="图片 1" descr="ChatGPT Image 2026年2月28日 14_37_35"/>
            <p:cNvPicPr>
              <a:picLocks noChangeAspect="1"/>
            </p:cNvPicPr>
            <p:nvPr/>
          </p:nvPicPr>
          <p:blipFill>
            <a:blip r:embed="rId10"/>
            <a:srcRect l="4301" r="16713" b="10280"/>
            <a:stretch>
              <a:fillRect/>
            </a:stretch>
          </p:blipFill>
          <p:spPr>
            <a:xfrm>
              <a:off x="15515" y="647"/>
              <a:ext cx="2151" cy="3849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1"/>
            <a:srcRect l="-2807"/>
            <a:stretch>
              <a:fillRect/>
            </a:stretch>
          </p:blipFill>
          <p:spPr>
            <a:xfrm>
              <a:off x="839" y="3304"/>
              <a:ext cx="6921" cy="134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49" y="7156"/>
              <a:ext cx="6549" cy="2862"/>
            </a:xfrm>
            <a:prstGeom prst="rect">
              <a:avLst/>
            </a:prstGeom>
          </p:spPr>
        </p:pic>
      </p:grpSp>
      <p:pic>
        <p:nvPicPr>
          <p:cNvPr id="8" name="图片 7" descr="01_simulator_framework"/>
          <p:cNvPicPr>
            <a:picLocks noChangeAspect="1"/>
          </p:cNvPicPr>
          <p:nvPr/>
        </p:nvPicPr>
        <p:blipFill>
          <a:blip r:embed="rId13"/>
          <a:srcRect t="8854" b="2523"/>
          <a:stretch>
            <a:fillRect/>
          </a:stretch>
        </p:blipFill>
        <p:spPr>
          <a:xfrm>
            <a:off x="0" y="876300"/>
            <a:ext cx="9144000" cy="5688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6_sweep_T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49901" b="923"/>
          <a:stretch>
            <a:fillRect/>
          </a:stretch>
        </p:blipFill>
        <p:spPr>
          <a:xfrm>
            <a:off x="4944904" y="3308826"/>
            <a:ext cx="4122896" cy="3322320"/>
          </a:xfrm>
          <a:prstGeom prst="rect">
            <a:avLst/>
          </a:prstGeom>
        </p:spPr>
      </p:pic>
      <p:pic>
        <p:nvPicPr>
          <p:cNvPr id="3" name="图片 2" descr="05_mnist_training_curves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9959" r="50245"/>
          <a:stretch>
            <a:fillRect/>
          </a:stretch>
        </p:blipFill>
        <p:spPr>
          <a:xfrm>
            <a:off x="111919" y="3309303"/>
            <a:ext cx="4528661" cy="3321844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-41910" y="317087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600">
                <a:latin typeface="Arial"/>
              </a:rPr>
              <a:t>(b)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4762024" y="317087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600">
                <a:latin typeface="Arial"/>
              </a:rPr>
              <a:t>(c)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02_pbnn_mlp_architecture"/>
          <p:cNvPicPr>
            <a:picLocks noChangeAspect="1"/>
          </p:cNvPicPr>
          <p:nvPr/>
        </p:nvPicPr>
        <p:blipFill>
          <a:blip r:embed="rId7"/>
          <a:srcRect l="1282" t="17726" r="12052" b="22337"/>
          <a:stretch>
            <a:fillRect/>
          </a:stretch>
        </p:blipFill>
        <p:spPr>
          <a:xfrm>
            <a:off x="159" y="113983"/>
            <a:ext cx="9151620" cy="2717006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-41910" y="-317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600">
                <a:latin typeface="Arial"/>
              </a:rPr>
              <a:t>(a)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0_uci_accuracy_curves"/>
          <p:cNvPicPr>
            <a:picLocks noChangeAspect="1"/>
          </p:cNvPicPr>
          <p:nvPr/>
        </p:nvPicPr>
        <p:blipFill>
          <a:blip r:embed="rId1"/>
          <a:srcRect l="-109" t="7593"/>
          <a:stretch>
            <a:fillRect/>
          </a:stretch>
        </p:blipFill>
        <p:spPr>
          <a:xfrm>
            <a:off x="0" y="1247775"/>
            <a:ext cx="9144000" cy="4752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1b_schedule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41408"/>
            <a:ext cx="9144000" cy="2359343"/>
          </a:xfrm>
          <a:prstGeom prst="rect">
            <a:avLst/>
          </a:prstGeom>
        </p:spPr>
      </p:pic>
      <p:pic>
        <p:nvPicPr>
          <p:cNvPr id="5" name="图片 4" descr="11a_optimizers"/>
          <p:cNvPicPr>
            <a:picLocks noChangeAspect="1"/>
          </p:cNvPicPr>
          <p:nvPr/>
        </p:nvPicPr>
        <p:blipFill>
          <a:blip r:embed="rId2"/>
          <a:srcRect t="-3600"/>
          <a:stretch>
            <a:fillRect/>
          </a:stretch>
        </p:blipFill>
        <p:spPr>
          <a:xfrm>
            <a:off x="1074420" y="857250"/>
            <a:ext cx="6980873" cy="267223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27622" y="84296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400">
                <a:latin typeface="Arial"/>
              </a:rPr>
              <a:t>(a)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-27622" y="3527108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400">
                <a:latin typeface="Arial"/>
              </a:rPr>
              <a:t>(b)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12a_landscape_contours"/>
          <p:cNvPicPr>
            <a:picLocks noChangeAspect="1"/>
          </p:cNvPicPr>
          <p:nvPr/>
        </p:nvPicPr>
        <p:blipFill>
          <a:blip r:embed="rId1"/>
          <a:srcRect t="12285"/>
          <a:stretch>
            <a:fillRect/>
          </a:stretch>
        </p:blipFill>
        <p:spPr>
          <a:xfrm>
            <a:off x="133350" y="435610"/>
            <a:ext cx="8935085" cy="2711450"/>
          </a:xfrm>
          <a:prstGeom prst="rect">
            <a:avLst/>
          </a:prstGeom>
        </p:spPr>
      </p:pic>
      <p:pic>
        <p:nvPicPr>
          <p:cNvPr id="4" name="图片 3" descr="12c_optimum_interp"/>
          <p:cNvPicPr>
            <a:picLocks noChangeAspect="1"/>
          </p:cNvPicPr>
          <p:nvPr/>
        </p:nvPicPr>
        <p:blipFill>
          <a:blip r:embed="rId2"/>
          <a:srcRect t="5578"/>
          <a:stretch>
            <a:fillRect/>
          </a:stretch>
        </p:blipFill>
        <p:spPr>
          <a:xfrm>
            <a:off x="3937000" y="3536315"/>
            <a:ext cx="5107940" cy="2583180"/>
          </a:xfrm>
          <a:prstGeom prst="rect">
            <a:avLst/>
          </a:prstGeom>
        </p:spPr>
      </p:pic>
      <p:pic>
        <p:nvPicPr>
          <p:cNvPr id="6" name="图片 5" descr="12b_pca_trajectories"/>
          <p:cNvPicPr>
            <a:picLocks noChangeAspect="1"/>
          </p:cNvPicPr>
          <p:nvPr/>
        </p:nvPicPr>
        <p:blipFill>
          <a:blip r:embed="rId3"/>
          <a:srcRect t="4161"/>
          <a:stretch>
            <a:fillRect/>
          </a:stretch>
        </p:blipFill>
        <p:spPr>
          <a:xfrm>
            <a:off x="180975" y="3544570"/>
            <a:ext cx="3572510" cy="244792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27622" y="28289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400">
                <a:latin typeface="Arial"/>
              </a:rPr>
              <a:t>(a)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-27622" y="328009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400">
                <a:latin typeface="Arial"/>
              </a:rPr>
              <a:t>(b)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94113" y="328009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400">
                <a:latin typeface="Arial"/>
              </a:rPr>
              <a:t>(c)</a:t>
            </a:r>
            <a:endParaRPr lang="en-US" altLang="zh-CN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Gemini_Generated_Image_r8iem3r8iem3r8ie"/>
          <p:cNvPicPr>
            <a:picLocks noChangeAspect="1"/>
          </p:cNvPicPr>
          <p:nvPr/>
        </p:nvPicPr>
        <p:blipFill>
          <a:blip r:embed="rId1"/>
          <a:srcRect b="3511"/>
          <a:stretch>
            <a:fillRect/>
          </a:stretch>
        </p:blipFill>
        <p:spPr>
          <a:xfrm>
            <a:off x="2777331" y="-4761547"/>
            <a:ext cx="4233863" cy="3502819"/>
          </a:xfrm>
          <a:prstGeom prst="rect">
            <a:avLst/>
          </a:prstGeom>
        </p:spPr>
      </p:pic>
      <p:pic>
        <p:nvPicPr>
          <p:cNvPr id="4" name="图片 3" descr="Gemini_Generated_Image_lik3tglik3tglik3"/>
          <p:cNvPicPr>
            <a:picLocks noChangeAspect="1"/>
          </p:cNvPicPr>
          <p:nvPr/>
        </p:nvPicPr>
        <p:blipFill>
          <a:blip r:embed="rId2"/>
          <a:srcRect l="48719" b="14950"/>
          <a:stretch>
            <a:fillRect/>
          </a:stretch>
        </p:blipFill>
        <p:spPr>
          <a:xfrm>
            <a:off x="7011194" y="-4761071"/>
            <a:ext cx="3782854" cy="35023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5625" y="-3491389"/>
            <a:ext cx="3603784" cy="1812131"/>
          </a:xfrm>
          <a:prstGeom prst="rect">
            <a:avLst/>
          </a:prstGeom>
        </p:spPr>
      </p:pic>
      <p:pic>
        <p:nvPicPr>
          <p:cNvPr id="7" name="图片 6" descr="03_mnist_noise_grid"/>
          <p:cNvPicPr>
            <a:picLocks noChangeAspect="1"/>
          </p:cNvPicPr>
          <p:nvPr/>
        </p:nvPicPr>
        <p:blipFill>
          <a:blip r:embed="rId4"/>
          <a:srcRect t="7582" b="4204"/>
          <a:stretch>
            <a:fillRect/>
          </a:stretch>
        </p:blipFill>
        <p:spPr>
          <a:xfrm>
            <a:off x="3810" y="423545"/>
            <a:ext cx="9140190" cy="492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635" y="1263650"/>
            <a:ext cx="9142730" cy="3809365"/>
            <a:chOff x="1" y="1990"/>
            <a:chExt cx="14398" cy="5999"/>
          </a:xfrm>
        </p:grpSpPr>
        <p:pic>
          <p:nvPicPr>
            <p:cNvPr id="2" name="图片 1" descr="07_baseline_noise_robustness"/>
            <p:cNvPicPr>
              <a:picLocks noChangeAspect="1"/>
            </p:cNvPicPr>
            <p:nvPr/>
          </p:nvPicPr>
          <p:blipFill>
            <a:blip r:embed="rId1"/>
            <a:srcRect t="7636"/>
            <a:stretch>
              <a:fillRect/>
            </a:stretch>
          </p:blipFill>
          <p:spPr>
            <a:xfrm>
              <a:off x="1" y="2015"/>
              <a:ext cx="14399" cy="5975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1312" y="199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4976" y="1991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8328" y="199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2224" y="199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2050" y="495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444" y="4951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4976" y="4963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312" y="4968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-44767" y="117189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000">
                <a:latin typeface="Arial"/>
              </a:rPr>
              <a:t>(a)</a:t>
            </a:r>
            <a:endParaRPr lang="en-US" altLang="zh-CN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17433" y="117189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000">
                <a:latin typeface="Arial"/>
              </a:rPr>
              <a:t>(b)</a:t>
            </a:r>
            <a:endParaRPr lang="en-US" altLang="zh-CN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78033" y="117189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000">
                <a:latin typeface="Arial"/>
              </a:rPr>
              <a:t>(c)</a:t>
            </a:r>
            <a:endParaRPr lang="en-US" altLang="zh-CN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64033" y="117189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000">
                <a:latin typeface="Arial"/>
              </a:rPr>
              <a:t>(d)</a:t>
            </a:r>
            <a:endParaRPr lang="en-US" altLang="zh-CN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44767" y="3060700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000">
                <a:latin typeface="Arial"/>
              </a:rPr>
              <a:t>(e)</a:t>
            </a:r>
            <a:endParaRPr lang="en-US" altLang="zh-CN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17433" y="3060700"/>
            <a:ext cx="466090" cy="32893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000">
                <a:latin typeface="Arial"/>
              </a:rPr>
              <a:t>(f)</a:t>
            </a:r>
            <a:endParaRPr lang="en-US" altLang="zh-CN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78033" y="3060700"/>
            <a:ext cx="466090" cy="32893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000">
                <a:latin typeface="Arial"/>
              </a:rPr>
              <a:t>(g)</a:t>
            </a:r>
            <a:endParaRPr lang="en-US" altLang="zh-CN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64033" y="3060700"/>
            <a:ext cx="466090" cy="32893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000">
                <a:latin typeface="Arial"/>
              </a:rPr>
              <a:t>(h)</a:t>
            </a:r>
            <a:endParaRPr lang="en-US" altLang="zh-CN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04_encoding_comparison_fixed"/>
          <p:cNvPicPr>
            <a:picLocks noChangeAspect="1"/>
          </p:cNvPicPr>
          <p:nvPr/>
        </p:nvPicPr>
        <p:blipFill>
          <a:blip r:embed="rId1"/>
          <a:srcRect l="51468" t="5803" b="4694"/>
          <a:stretch>
            <a:fillRect/>
          </a:stretch>
        </p:blipFill>
        <p:spPr>
          <a:xfrm>
            <a:off x="4763770" y="933450"/>
            <a:ext cx="4380230" cy="5405755"/>
          </a:xfrm>
          <a:prstGeom prst="rect">
            <a:avLst/>
          </a:prstGeom>
        </p:spPr>
      </p:pic>
      <p:pic>
        <p:nvPicPr>
          <p:cNvPr id="2" name="图片 1" descr="04_encoding_comparison_fixed"/>
          <p:cNvPicPr>
            <a:picLocks noChangeAspect="1"/>
          </p:cNvPicPr>
          <p:nvPr/>
        </p:nvPicPr>
        <p:blipFill>
          <a:blip r:embed="rId1"/>
          <a:srcRect t="7137" r="51455" b="4694"/>
          <a:stretch>
            <a:fillRect/>
          </a:stretch>
        </p:blipFill>
        <p:spPr>
          <a:xfrm>
            <a:off x="170815" y="933450"/>
            <a:ext cx="4448175" cy="540512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26829" y="875506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600">
                <a:latin typeface="Arial"/>
              </a:rPr>
              <a:t>(a)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45355" y="875506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600">
                <a:latin typeface="Arial"/>
              </a:rPr>
              <a:t>(b)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26829" y="3296761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600">
                <a:latin typeface="Arial"/>
              </a:rPr>
              <a:t>(c)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45355" y="3296761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600">
                <a:latin typeface="Arial"/>
              </a:rPr>
              <a:t>(d)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09c_effective_error_di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950" y="3804285"/>
            <a:ext cx="5213985" cy="2770505"/>
          </a:xfrm>
          <a:prstGeom prst="rect">
            <a:avLst/>
          </a:prstGeom>
        </p:spPr>
      </p:pic>
      <p:pic>
        <p:nvPicPr>
          <p:cNvPr id="5" name="图片 4" descr="09a_per_bit_sensitivi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350"/>
            <a:ext cx="4501515" cy="2787650"/>
          </a:xfrm>
          <a:prstGeom prst="rect">
            <a:avLst/>
          </a:prstGeom>
        </p:spPr>
      </p:pic>
      <p:pic>
        <p:nvPicPr>
          <p:cNvPr id="6" name="图片 5" descr="09b_bitflip_accuracy"/>
          <p:cNvPicPr>
            <a:picLocks noChangeAspect="1"/>
          </p:cNvPicPr>
          <p:nvPr/>
        </p:nvPicPr>
        <p:blipFill>
          <a:blip r:embed="rId3"/>
          <a:srcRect b="1503"/>
          <a:stretch>
            <a:fillRect/>
          </a:stretch>
        </p:blipFill>
        <p:spPr>
          <a:xfrm>
            <a:off x="4572000" y="641350"/>
            <a:ext cx="4572000" cy="276669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71279" y="360521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600">
                <a:latin typeface="Arial"/>
              </a:rPr>
              <a:t>(a)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31055" y="360521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600">
                <a:latin typeface="Arial"/>
              </a:rPr>
              <a:t>(b)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34356" y="3578701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600">
                <a:latin typeface="Arial"/>
              </a:rPr>
              <a:t>(c)</a:t>
            </a:r>
            <a:endParaRPr lang="en-US" altLang="zh-CN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08a_psw_nonideality_curves"/>
          <p:cNvPicPr>
            <a:picLocks noChangeAspect="1"/>
          </p:cNvPicPr>
          <p:nvPr/>
        </p:nvPicPr>
        <p:blipFill>
          <a:blip r:embed="rId1"/>
          <a:srcRect t="9251"/>
          <a:stretch>
            <a:fillRect/>
          </a:stretch>
        </p:blipFill>
        <p:spPr>
          <a:xfrm>
            <a:off x="0" y="1060450"/>
            <a:ext cx="9144000" cy="47091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76325" y="1129030"/>
            <a:ext cx="147320" cy="142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268470" y="1129030"/>
            <a:ext cx="147320" cy="142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133215" y="3492500"/>
            <a:ext cx="147320" cy="142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71575" y="3477260"/>
            <a:ext cx="147320" cy="142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815455" y="3487420"/>
            <a:ext cx="147320" cy="142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318375" y="1129030"/>
            <a:ext cx="147320" cy="142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-44767" y="103219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(a)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47683" y="1031558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(b)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483" y="1032193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(c)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44767" y="3362960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(d)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47683" y="3362960"/>
            <a:ext cx="466090" cy="32893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(e)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46483" y="3399155"/>
            <a:ext cx="466090" cy="32893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(f)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" name="组合 10"/>
          <p:cNvGrpSpPr/>
          <p:nvPr/>
        </p:nvGrpSpPr>
        <p:grpSpPr>
          <a:xfrm>
            <a:off x="0" y="1142365"/>
            <a:ext cx="9144000" cy="4679950"/>
            <a:chOff x="0" y="1799"/>
            <a:chExt cx="14400" cy="7370"/>
          </a:xfrm>
        </p:grpSpPr>
        <p:pic>
          <p:nvPicPr>
            <p:cNvPr id="4" name="图片 3" descr="08b_nonideality_accuracy"/>
            <p:cNvPicPr>
              <a:picLocks noChangeAspect="1"/>
            </p:cNvPicPr>
            <p:nvPr/>
          </p:nvPicPr>
          <p:blipFill>
            <a:blip r:embed="rId1"/>
            <a:srcRect t="9691"/>
            <a:stretch>
              <a:fillRect/>
            </a:stretch>
          </p:blipFill>
          <p:spPr>
            <a:xfrm>
              <a:off x="0" y="1799"/>
              <a:ext cx="14400" cy="7371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645" y="1868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6735" y="1868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1479" y="1860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733" y="5531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403" y="5533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079" y="5535"/>
              <a:ext cx="232" cy="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953" y="1063308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(a)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87688" y="1063308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(b)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57913" y="1063308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(c)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3" y="3401060"/>
            <a:ext cx="466249" cy="328613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(d)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87688" y="3401060"/>
            <a:ext cx="466090" cy="32893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(e)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57913" y="3437255"/>
            <a:ext cx="466090" cy="32893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r>
              <a:rPr b="1" sz="1200">
                <a:latin typeface="Arial"/>
              </a:rPr>
              <a:t>(f)</a:t>
            </a:r>
            <a:endParaRPr lang="en-US" altLang="zh-CN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3a_training_energy_breakdown"/>
          <p:cNvPicPr>
            <a:picLocks noChangeAspect="1"/>
          </p:cNvPicPr>
          <p:nvPr/>
        </p:nvPicPr>
        <p:blipFill>
          <a:blip r:embed="rId1"/>
          <a:srcRect t="4381"/>
          <a:stretch>
            <a:fillRect/>
          </a:stretch>
        </p:blipFill>
        <p:spPr>
          <a:xfrm>
            <a:off x="0" y="1104900"/>
            <a:ext cx="9144000" cy="5170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pter04_local_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000" y="502920"/>
            <a:ext cx="598400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02920"/>
            <a:ext cx="2810256" cy="2421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6872" y="502920"/>
            <a:ext cx="2810256" cy="23822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12592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5144" y="502920"/>
            <a:ext cx="2810256" cy="24511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50864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4279392" cy="35668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6007" y="502920"/>
            <a:ext cx="4279392" cy="35064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7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502920"/>
            <a:ext cx="2810256" cy="23170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6872" y="502920"/>
            <a:ext cx="2810256" cy="25203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12592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5144" y="502920"/>
            <a:ext cx="2810256" cy="2490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50864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(c)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pter04_local_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02920"/>
            <a:ext cx="8686800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02920"/>
            <a:ext cx="8686800" cy="23772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2203" y="307859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9374" y="307859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3230" y="307859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e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02920"/>
            <a:ext cx="8686800" cy="466269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al_model_consisten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02920"/>
            <a:ext cx="8686800" cy="61281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02920"/>
            <a:ext cx="4279392" cy="3084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7" y="502920"/>
            <a:ext cx="4279392" cy="25700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7" y="521208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02920"/>
            <a:ext cx="868680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8063" y="401482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5476" y="401482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30_temperature_self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8686800" cy="23408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5" y="286642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90566" y="286642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1256" y="286642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(c)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32_replay_column_co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8686800" cy="3375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2230" y="360812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3387" y="360812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82.4,&quot;left&quot;:-5.15,&quot;top&quot;:72.25,&quot;width&quot;:957.15}"/>
</p:tagLst>
</file>

<file path=ppt/tags/tag2.xml><?xml version="1.0" encoding="utf-8"?>
<p:tagLst xmlns:p="http://schemas.openxmlformats.org/presentationml/2006/main">
  <p:tag name="KSO_WM_DIAGRAM_VIRTUALLY_FRAME" val="{&quot;height&quot;:482.4,&quot;left&quot;:-5.15,&quot;top&quot;:72.25,&quot;width&quot;:957.15}"/>
</p:tagLst>
</file>

<file path=ppt/tags/tag3.xml><?xml version="1.0" encoding="utf-8"?>
<p:tagLst xmlns:p="http://schemas.openxmlformats.org/presentationml/2006/main">
  <p:tag name="KSO_WM_DIAGRAM_VIRTUALLY_FRAME" val="{&quot;height&quot;:482.4,&quot;left&quot;:-5.15,&quot;top&quot;:72.25,&quot;width&quot;:957.15}"/>
</p:tagLst>
</file>

<file path=ppt/tags/tag4.xml><?xml version="1.0" encoding="utf-8"?>
<p:tagLst xmlns:p="http://schemas.openxmlformats.org/presentationml/2006/main">
  <p:tag name="KSO_WM_DIAGRAM_VIRTUALLY_FRAME" val="{&quot;height&quot;:482.4,&quot;left&quot;:-5.15,&quot;top&quot;:72.25,&quot;width&quot;:957.15}"/>
</p:tagLst>
</file>

<file path=ppt/tags/tag5.xml><?xml version="1.0" encoding="utf-8"?>
<p:tagLst xmlns:p="http://schemas.openxmlformats.org/presentationml/2006/main">
  <p:tag name="KSO_WM_DIAGRAM_VIRTUALLY_FRAME" val="{&quot;height&quot;:482.4,&quot;left&quot;:-5.15,&quot;top&quot;:72.25,&quot;width&quot;:957.15}"/>
</p:tagLst>
</file>

<file path=ppt/tags/tag6.xml><?xml version="1.0" encoding="utf-8"?>
<p:tagLst xmlns:p="http://schemas.openxmlformats.org/presentationml/2006/main">
  <p:tag name="KSO_WM_DIAGRAM_VIRTUALLY_FRAME" val="{&quot;height&quot;:280.85055118110233,&quot;left&quot;:18,&quot;top&quot;:39.6,&quot;width&quot;:683.9999212598425}"/>
</p:tagLst>
</file>

<file path=ppt/tags/tag7.xml><?xml version="1.0" encoding="utf-8"?>
<p:tagLst xmlns:p="http://schemas.openxmlformats.org/presentationml/2006/main">
  <p:tag name="KSO_WM_DIAGRAM_VIRTUALLY_FRAME" val="{&quot;height&quot;:280.85055118110233,&quot;left&quot;:18,&quot;top&quot;:39.6,&quot;width&quot;:683.9999212598425}"/>
</p:tagLst>
</file>

<file path=ppt/tags/tag8.xml><?xml version="1.0" encoding="utf-8"?>
<p:tagLst xmlns:p="http://schemas.openxmlformats.org/presentationml/2006/main">
  <p:tag name="KSO_WM_DIAGRAM_VIRTUALLY_FRAME" val="{&quot;height&quot;:280.85055118110233,&quot;left&quot;:18,&quot;top&quot;:39.6,&quot;width&quot;:683.9999212598425}"/>
</p:tagLst>
</file>

<file path=ppt/tags/tag9.xml><?xml version="1.0" encoding="utf-8"?>
<p:tagLst xmlns:p="http://schemas.openxmlformats.org/presentationml/2006/main">
  <p:tag name="KSO_WM_DIAGRAM_VIRTUALLY_FRAME" val="{&quot;height&quot;:280.85055118110233,&quot;left&quot;:18,&quot;top&quot;:39.6,&quot;width&quot;:683.999921259842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WPS 演示</Application>
  <PresentationFormat>宽屏</PresentationFormat>
  <Paragraphs>88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邵东一中_张锦程</cp:lastModifiedBy>
  <cp:revision>165</cp:revision>
  <dcterms:created xsi:type="dcterms:W3CDTF">2023-08-09T12:44:00Z</dcterms:created>
  <dcterms:modified xsi:type="dcterms:W3CDTF">2026-07-08T08:45:59Z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3BE5593CD241477DBD730381EB4EDBF0_12</vt:lpwstr>
  </property>
</Properties>
</file>